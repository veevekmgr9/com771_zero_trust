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23_92B1BF22.xml" ContentType="application/vnd.ms-powerpoint.comments+xml"/>
  <Override PartName="/ppt/notesSlides/notesSlide4.xml" ContentType="application/vnd.openxmlformats-officedocument.presentationml.notesSlide+xml"/>
  <Override PartName="/ppt/comments/modernComment_124_1B5D8F91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7" r:id="rId5"/>
    <p:sldId id="275" r:id="rId6"/>
    <p:sldId id="276" r:id="rId7"/>
    <p:sldId id="277" r:id="rId8"/>
    <p:sldId id="272" r:id="rId9"/>
    <p:sldId id="282" r:id="rId10"/>
    <p:sldId id="274" r:id="rId11"/>
    <p:sldId id="278" r:id="rId12"/>
    <p:sldId id="288" r:id="rId13"/>
    <p:sldId id="289" r:id="rId14"/>
    <p:sldId id="290" r:id="rId15"/>
    <p:sldId id="291" r:id="rId16"/>
    <p:sldId id="292" r:id="rId17"/>
    <p:sldId id="287" r:id="rId18"/>
    <p:sldId id="279" r:id="rId19"/>
    <p:sldId id="283" r:id="rId20"/>
    <p:sldId id="284" r:id="rId21"/>
    <p:sldId id="281" r:id="rId22"/>
    <p:sldId id="280" r:id="rId23"/>
    <p:sldId id="293" r:id="rId24"/>
    <p:sldId id="29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0DD53A-9CD2-E7CF-7222-F3D89EE2AA42}" name="Vivek Jurga Magar" initials="VJ" userId="S::Jurga_Magar-V@ulster.ac.uk::70f438a4-e1f9-4b45-9aa0-bac209ebe7b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9" autoAdjust="0"/>
    <p:restoredTop sz="94614" autoAdjust="0"/>
  </p:normalViewPr>
  <p:slideViewPr>
    <p:cSldViewPr snapToGrid="0">
      <p:cViewPr varScale="1">
        <p:scale>
          <a:sx n="71" d="100"/>
          <a:sy n="71" d="100"/>
        </p:scale>
        <p:origin x="85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Jurga Magar" userId="70f438a4-e1f9-4b45-9aa0-bac209ebe7b5" providerId="ADAL" clId="{39828F2C-0CFD-4396-9CFA-74046FCC9185}"/>
    <pc:docChg chg="undo redo custSel addSld delSld modSld sldOrd addSection delSection">
      <pc:chgData name="Vivek Jurga Magar" userId="70f438a4-e1f9-4b45-9aa0-bac209ebe7b5" providerId="ADAL" clId="{39828F2C-0CFD-4396-9CFA-74046FCC9185}" dt="2026-07-25T17:45:36.707" v="8681" actId="478"/>
      <pc:docMkLst>
        <pc:docMk/>
      </pc:docMkLst>
      <pc:sldChg chg="addSp delSp modSp add mod delAnim modAnim">
        <pc:chgData name="Vivek Jurga Magar" userId="70f438a4-e1f9-4b45-9aa0-bac209ebe7b5" providerId="ADAL" clId="{39828F2C-0CFD-4396-9CFA-74046FCC9185}" dt="2026-07-25T17:45:36.707" v="8681" actId="478"/>
        <pc:sldMkLst>
          <pc:docMk/>
          <pc:sldMk cId="2787482494" sldId="279"/>
        </pc:sldMkLst>
        <pc:spChg chg="add mod">
          <ac:chgData name="Vivek Jurga Magar" userId="70f438a4-e1f9-4b45-9aa0-bac209ebe7b5" providerId="ADAL" clId="{39828F2C-0CFD-4396-9CFA-74046FCC9185}" dt="2026-07-25T17:45:36.707" v="8681" actId="478"/>
          <ac:spMkLst>
            <pc:docMk/>
            <pc:sldMk cId="2787482494" sldId="279"/>
            <ac:spMk id="7" creationId="{47C8C9AB-5FC9-0375-9476-2E060370DB45}"/>
          </ac:spMkLst>
        </pc:spChg>
        <pc:picChg chg="add del mod">
          <ac:chgData name="Vivek Jurga Magar" userId="70f438a4-e1f9-4b45-9aa0-bac209ebe7b5" providerId="ADAL" clId="{39828F2C-0CFD-4396-9CFA-74046FCC9185}" dt="2026-07-25T17:45:36.707" v="8681" actId="478"/>
          <ac:picMkLst>
            <pc:docMk/>
            <pc:sldMk cId="2787482494" sldId="279"/>
            <ac:picMk id="4" creationId="{2BB118D3-5663-1A5A-44D1-49D4228A9CD0}"/>
          </ac:picMkLst>
        </pc:picChg>
      </pc:sldChg>
    </pc:docChg>
  </pc:docChgLst>
</pc:chgInfo>
</file>

<file path=ppt/comments/modernComment_123_92B1BF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CC38E1-1960-4FE2-8F47-873DCC175ABF}" authorId="{940DD53A-9CD2-E7CF-7222-F3D89EE2AA42}" created="2026-04-18T15:27:21.662">
    <pc:sldMkLst xmlns:pc="http://schemas.microsoft.com/office/powerpoint/2013/main/command">
      <pc:docMk/>
      <pc:sldMk cId="2461122338" sldId="291"/>
    </pc:sldMkLst>
    <p188:txBody>
      <a:bodyPr/>
      <a:lstStyle/>
      <a:p>
        <a:r>
          <a:rPr lang="en-US"/>
          <a:t>Prevents unauthorized data export</a:t>
        </a:r>
      </a:p>
    </p188:txBody>
  </p188:cm>
</p188:cmLst>
</file>

<file path=ppt/comments/modernComment_124_1B5D8F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54EEA5-8C85-4D2F-821D-1B7EF4006120}" authorId="{940DD53A-9CD2-E7CF-7222-F3D89EE2AA42}" created="2026-04-18T15:27:21.662">
    <pc:sldMkLst xmlns:pc="http://schemas.microsoft.com/office/powerpoint/2013/main/command">
      <pc:docMk/>
      <pc:sldMk cId="2461122338" sldId="291"/>
    </pc:sldMkLst>
    <p188:txBody>
      <a:bodyPr/>
      <a:lstStyle/>
      <a:p>
        <a:r>
          <a:rPr lang="en-US"/>
          <a:t>Prevents unauthorized data export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execution of malicious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6D3C-9EB0-4F2C-9026-3887D1CDB44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17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Helps to identify potential medical or device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6D3C-9EB0-4F2C-9026-3887D1CDB44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44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Prevents unauthorized data export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6D3C-9EB0-4F2C-9026-3887D1CDB44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79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6B9D-6948-EAB8-6E44-0426901E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8F124-95BD-D40C-3B86-D1D3D6196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5C935-A1CE-F76E-B772-13B2FE61D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7A52D-D8A8-9CAF-4901-3751C71F3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6D3C-9EB0-4F2C-9026-3887D1CDB44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352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security breach can directly impact patient safety (NAO, 2017)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6D3C-9EB0-4F2C-9026-3887D1CDB44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0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is effective due to </a:t>
            </a:r>
            <a:r>
              <a:rPr lang="en-US" b="0" dirty="0"/>
              <a:t>multi-layer security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C6D3C-9EB0-4F2C-9026-3887D1CDB44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54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92B1BF2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1B5D8F9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isa.europa.eu/sites/default/files/publications/WP2017%20O-1-1-2%201%20Baseline%20Security%20Recommendations%20for%20IoT%20in%20the%20context%20of%20CII_FINAL.pdf" TargetMode="External"/><Relationship Id="rId2" Type="http://schemas.openxmlformats.org/officeDocument/2006/relationships/hyperlink" Target="https://www.nao.org.uk/press-releases/investigation-wannacry-cyber-attack-and-the-nhs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nvlpubs.nist.gov/nistpubs/SpecialPublications/NIST.SP.800-207.pdf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3416464"/>
          </a:xfrm>
        </p:spPr>
        <p:txBody>
          <a:bodyPr/>
          <a:lstStyle/>
          <a:p>
            <a:pPr>
              <a:lnSpc>
                <a:spcPct val="110000"/>
              </a:lnSpc>
            </a:pPr>
            <a:br>
              <a:rPr lang="en-US" sz="2800" dirty="0"/>
            </a:br>
            <a:r>
              <a:rPr lang="en-US" sz="2800" dirty="0"/>
              <a:t>Design and Implementation of a Zero- Trust Based Intrusion Detection and Data Protection System for Healthcare Infrastructure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CF768AA-0FDE-4A4A-098D-49E927BB360C}"/>
              </a:ext>
            </a:extLst>
          </p:cNvPr>
          <p:cNvSpPr txBox="1">
            <a:spLocks/>
          </p:cNvSpPr>
          <p:nvPr/>
        </p:nvSpPr>
        <p:spPr>
          <a:xfrm>
            <a:off x="2520000" y="3422899"/>
            <a:ext cx="9672000" cy="3435101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116000" tIns="0" rIns="18000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1" kern="1200" cap="all" spc="-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800" dirty="0"/>
              <a:t>Module : Cyber Security (COM771)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Presented By :  Vivek Kumar Jurga </a:t>
            </a:r>
            <a:r>
              <a:rPr lang="en-US" sz="1800" dirty="0" err="1"/>
              <a:t>magar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/>
              <a:t>Student Id :  b01037741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Date:  24/ 04 / 2026    </a:t>
            </a: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687084" y="3441536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09BFE9-AB83-39F6-7D32-8A69F9E0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problem area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486B8-1162-E807-787E-5D3B507F8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r>
              <a:rPr lang="en-US" dirty="0"/>
              <a:t> Healthcare system store highly sensitive patient data</a:t>
            </a:r>
          </a:p>
          <a:p>
            <a:r>
              <a:rPr lang="en-US" dirty="0"/>
              <a:t>Increasing use of Internet Of Things (IoT) medical devices</a:t>
            </a:r>
          </a:p>
          <a:p>
            <a:r>
              <a:rPr lang="en-US" dirty="0"/>
              <a:t>Highly connected networks increase attack surface</a:t>
            </a:r>
          </a:p>
          <a:p>
            <a:r>
              <a:rPr lang="en-US" dirty="0"/>
              <a:t>Traditional systems rely on perimeter based</a:t>
            </a:r>
          </a:p>
          <a:p>
            <a:r>
              <a:rPr lang="en-US" dirty="0"/>
              <a:t>Major risks:</a:t>
            </a:r>
          </a:p>
          <a:p>
            <a:pPr lvl="1"/>
            <a:r>
              <a:rPr lang="en-US" dirty="0" err="1"/>
              <a:t>Ransomeware</a:t>
            </a:r>
            <a:r>
              <a:rPr lang="en-US" dirty="0"/>
              <a:t> attacks</a:t>
            </a:r>
          </a:p>
          <a:p>
            <a:pPr lvl="1"/>
            <a:r>
              <a:rPr lang="en-US" dirty="0"/>
              <a:t>Unauthorized data access</a:t>
            </a:r>
          </a:p>
          <a:p>
            <a:pPr lvl="1"/>
            <a:r>
              <a:rPr lang="en-US" dirty="0"/>
              <a:t>IoT device exploitation</a:t>
            </a:r>
          </a:p>
          <a:p>
            <a:r>
              <a:rPr lang="en-US" dirty="0"/>
              <a:t>Healthcare has been the most targeted sectors.(NAO, 2017)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NHS WannaCry Attack (NAO, 2017)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94D996-0775-EC33-608D-9E1A59C1B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EA3CDA0E-DE24-5902-54EF-498E639EF8AF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186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0516-3512-0745-5839-E21C05B2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F3434F-DA05-D78A-66E9-B9C65E2B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42D9D-C71D-E1B6-AB5A-81F37A92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pPr algn="just"/>
            <a:r>
              <a:rPr lang="en-US" dirty="0"/>
              <a:t>Zero Trust Architecture (NIST SP 800-207)</a:t>
            </a:r>
          </a:p>
          <a:p>
            <a:pPr lvl="1" algn="just"/>
            <a:r>
              <a:rPr lang="en-US" dirty="0"/>
              <a:t>“Never Trust, Always Verify” (NIST, 2020)</a:t>
            </a:r>
          </a:p>
          <a:p>
            <a:pPr algn="just"/>
            <a:r>
              <a:rPr lang="en-US" dirty="0"/>
              <a:t>Continuous authentication of users and devices</a:t>
            </a:r>
          </a:p>
          <a:p>
            <a:pPr algn="just"/>
            <a:r>
              <a:rPr lang="en-US" dirty="0"/>
              <a:t>Research shows:</a:t>
            </a:r>
          </a:p>
          <a:p>
            <a:pPr lvl="1" algn="just"/>
            <a:r>
              <a:rPr lang="en-US" dirty="0"/>
              <a:t>Healthcare data is highly value to attackers</a:t>
            </a:r>
          </a:p>
          <a:p>
            <a:pPr lvl="1" algn="just"/>
            <a:r>
              <a:rPr lang="en-US" dirty="0"/>
              <a:t>IoT devices have weak security controls</a:t>
            </a:r>
          </a:p>
          <a:p>
            <a:pPr algn="just"/>
            <a:r>
              <a:rPr lang="en-US" dirty="0"/>
              <a:t>ENISA &amp; NIST highlight:</a:t>
            </a:r>
          </a:p>
          <a:p>
            <a:pPr lvl="1" algn="just"/>
            <a:r>
              <a:rPr lang="en-US" dirty="0"/>
              <a:t>Lack of monitoring in IoT environment</a:t>
            </a:r>
          </a:p>
          <a:p>
            <a:pPr lvl="1" algn="just"/>
            <a:r>
              <a:rPr lang="en-US" dirty="0"/>
              <a:t>Increase in vulnerability to cyber threats</a:t>
            </a:r>
          </a:p>
          <a:p>
            <a:pPr algn="just"/>
            <a:r>
              <a:rPr lang="en-US" dirty="0"/>
              <a:t>Zero Trust reduces risk through:</a:t>
            </a:r>
          </a:p>
          <a:p>
            <a:pPr lvl="1" algn="just"/>
            <a:r>
              <a:rPr lang="en-US" dirty="0"/>
              <a:t>Strict access control</a:t>
            </a:r>
          </a:p>
          <a:p>
            <a:pPr lvl="1" algn="just"/>
            <a:r>
              <a:rPr lang="en-US" dirty="0"/>
              <a:t>Identity verification</a:t>
            </a:r>
          </a:p>
          <a:p>
            <a:pPr lvl="1" algn="just"/>
            <a:r>
              <a:rPr lang="en-US" dirty="0"/>
              <a:t>Continuous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DF2B2-1226-8DC6-C76C-E9651333CB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DFF8755C-0A76-FB0B-F280-5342BD36C1A0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053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0528-BA3F-BC65-2E19-47D6D771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ED7443-C943-AE5F-5685-395B2BC0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A3C4F-5F07-518D-789B-17DE13AA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r>
              <a:rPr lang="en-US" dirty="0"/>
              <a:t>Zero Trust-based healthcare system</a:t>
            </a:r>
          </a:p>
          <a:p>
            <a:pPr marL="0" indent="0">
              <a:buNone/>
            </a:pPr>
            <a:r>
              <a:rPr lang="en-US" dirty="0"/>
              <a:t>Key security components:</a:t>
            </a:r>
          </a:p>
          <a:p>
            <a:r>
              <a:rPr lang="en-US" dirty="0"/>
              <a:t>Multi-Factor Authentication (MFA) for user verification</a:t>
            </a:r>
          </a:p>
          <a:p>
            <a:r>
              <a:rPr lang="en-US" dirty="0"/>
              <a:t>Trusted Device Validation</a:t>
            </a:r>
          </a:p>
          <a:p>
            <a:r>
              <a:rPr lang="en-US" dirty="0"/>
              <a:t>Trusted IP Verification</a:t>
            </a:r>
          </a:p>
          <a:p>
            <a:r>
              <a:rPr lang="en-US" dirty="0"/>
              <a:t>Role-Based Access Control</a:t>
            </a:r>
          </a:p>
          <a:p>
            <a:r>
              <a:rPr lang="en-US" dirty="0"/>
              <a:t>IoT Device Assignment and Permission Control</a:t>
            </a:r>
          </a:p>
          <a:p>
            <a:r>
              <a:rPr lang="en-US" dirty="0"/>
              <a:t>Secure PDF Download (token + password)</a:t>
            </a:r>
          </a:p>
          <a:p>
            <a:r>
              <a:rPr lang="en-US" dirty="0"/>
              <a:t>Anomaly Detection for IoT Data</a:t>
            </a:r>
          </a:p>
          <a:p>
            <a:r>
              <a:rPr lang="en-US" dirty="0"/>
              <a:t>Attack Detection (SQL Injection and XSS)</a:t>
            </a:r>
          </a:p>
          <a:p>
            <a:r>
              <a:rPr lang="en-US" dirty="0"/>
              <a:t>Logging and Analytics Dashboard</a:t>
            </a:r>
          </a:p>
          <a:p>
            <a:pPr marL="0" indent="0">
              <a:buNone/>
            </a:pPr>
            <a:r>
              <a:rPr lang="en-US" dirty="0"/>
              <a:t>Every request is continuously verified before access is granted.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B20324-9DCB-BB7A-1484-D4B74D4CE0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0A811D78-D411-D0E1-6BBA-26F0D81422E9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778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2E43-C110-41B5-9E8C-BBA2A6D72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F173E3BB-F601-4F0E-90AC-4E1473812240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DCA7214-71EA-F4AD-FAFC-918DCC82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C645EF-F0A4-B135-D1D4-E0C5DEC09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02" y="1591441"/>
            <a:ext cx="6983527" cy="465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7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D932-078E-C74C-D12B-CC2E88A28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E7218-BFE2-403A-DD0C-6841DCBEF9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D2FDBD9C-9C82-F920-49C1-E8E8C1EE8013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ABDC186-B1EE-00AC-24E0-860D64D1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87C445-CE47-EA67-34D3-9B983A8DD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79" y="3695917"/>
            <a:ext cx="1185621" cy="11856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BB112E-AED0-C756-CAA5-D1DFDA0AF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213" y="1975318"/>
            <a:ext cx="881755" cy="881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5465AF-1645-CB20-78C1-F1A82B129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96" y="3695918"/>
            <a:ext cx="1185621" cy="11856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7AEDE0-E168-CEF5-0DD8-0801EB60DC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67" y="1910444"/>
            <a:ext cx="787962" cy="1011504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53A78770-175F-EA02-5390-4F8F431BFF4A}"/>
              </a:ext>
            </a:extLst>
          </p:cNvPr>
          <p:cNvSpPr txBox="1">
            <a:spLocks/>
          </p:cNvSpPr>
          <p:nvPr/>
        </p:nvSpPr>
        <p:spPr>
          <a:xfrm>
            <a:off x="5292684" y="2263877"/>
            <a:ext cx="6435012" cy="3785937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IoT Simulation using forms</a:t>
            </a:r>
          </a:p>
          <a:p>
            <a:r>
              <a:rPr lang="en-US" dirty="0"/>
              <a:t>PDF Generation: </a:t>
            </a:r>
            <a:r>
              <a:rPr lang="en-US" dirty="0" err="1"/>
              <a:t>ReportLab</a:t>
            </a:r>
            <a:r>
              <a:rPr lang="en-US" dirty="0"/>
              <a:t> + </a:t>
            </a:r>
            <a:r>
              <a:rPr lang="en-US" dirty="0" err="1"/>
              <a:t>pypdf</a:t>
            </a:r>
            <a:endParaRPr lang="en-US" dirty="0"/>
          </a:p>
          <a:p>
            <a:r>
              <a:rPr lang="en-US" dirty="0"/>
              <a:t>Security Modules:</a:t>
            </a:r>
          </a:p>
          <a:p>
            <a:pPr lvl="1"/>
            <a:r>
              <a:rPr lang="en-US" dirty="0"/>
              <a:t>Input Validation</a:t>
            </a:r>
          </a:p>
          <a:p>
            <a:pPr lvl="1"/>
            <a:r>
              <a:rPr lang="en-US" dirty="0"/>
              <a:t>Token Based Authentication</a:t>
            </a:r>
          </a:p>
          <a:p>
            <a:pPr lvl="1"/>
            <a:r>
              <a:rPr lang="en-US" dirty="0"/>
              <a:t>Logging System</a:t>
            </a:r>
          </a:p>
        </p:txBody>
      </p:sp>
    </p:spTree>
    <p:extLst>
      <p:ext uri="{BB962C8B-B14F-4D97-AF65-F5344CB8AC3E}">
        <p14:creationId xmlns:p14="http://schemas.microsoft.com/office/powerpoint/2010/main" val="1405051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C79C4-2837-8B15-B363-02CE9189EC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Identity Verification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A4BE9-A0AD-32BE-16CD-9E47C65485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Device Validation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030A08-609D-15DE-8413-00B483727B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IP Verification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5B42E54-CD8F-28EB-92D7-29EF0AB166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3794" y="5486550"/>
            <a:ext cx="2034138" cy="360445"/>
          </a:xfrm>
        </p:spPr>
        <p:txBody>
          <a:bodyPr/>
          <a:lstStyle/>
          <a:p>
            <a:r>
              <a:rPr lang="en-US" dirty="0"/>
              <a:t>Role Validation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FF6C293-90FD-D171-FAC2-00D15237EFC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6362" y="5486549"/>
            <a:ext cx="2034138" cy="360445"/>
          </a:xfrm>
        </p:spPr>
        <p:txBody>
          <a:bodyPr/>
          <a:lstStyle/>
          <a:p>
            <a:r>
              <a:rPr lang="en-US" dirty="0"/>
              <a:t>Session Validation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64DC89-BE87-93D1-E603-24B283B1318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28930" y="5506800"/>
            <a:ext cx="2034138" cy="360445"/>
          </a:xfrm>
        </p:spPr>
        <p:txBody>
          <a:bodyPr/>
          <a:lstStyle/>
          <a:p>
            <a:r>
              <a:rPr lang="en-US" dirty="0"/>
              <a:t>Logging all request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trust engine</a:t>
            </a:r>
            <a:br>
              <a:rPr lang="en-US" dirty="0"/>
            </a:br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4A6FBC7-4236-5CA9-09C8-D451535B4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32" y="1697731"/>
            <a:ext cx="1265261" cy="126526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8547E7A-3C9E-04E3-2030-2C840FB9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536" y="1731109"/>
            <a:ext cx="1014927" cy="10149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8033496-8E2C-F89E-1201-ECA81342A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536" y="1731109"/>
            <a:ext cx="1014927" cy="10149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A2C51D5-B7AF-A43D-6EC9-9689C885C3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32" y="4167842"/>
            <a:ext cx="1176761" cy="117676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EDC43F5-07C3-4F90-9678-9C9C6BEBF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618" y="4157389"/>
            <a:ext cx="1176761" cy="117676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81B07AA-4095-28EA-2C69-B75B995927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238504" y="4157388"/>
            <a:ext cx="1176761" cy="117676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043F59B-CB8A-7DA0-1B9A-BEC556EFE5BF}"/>
              </a:ext>
            </a:extLst>
          </p:cNvPr>
          <p:cNvSpPr txBox="1"/>
          <p:nvPr/>
        </p:nvSpPr>
        <p:spPr>
          <a:xfrm>
            <a:off x="973560" y="6049814"/>
            <a:ext cx="1080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rgbClr val="FF0000"/>
                </a:solidFill>
              </a:rPr>
              <a:t>Access is granted only if all condition is satisfied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815F-D44F-4D5B-42F6-64B94220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575798-55F9-6514-67E9-C38A3B64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Module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87DA7-4C48-641A-6F11-FAE74680F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588055"/>
            <a:ext cx="10800000" cy="4653709"/>
          </a:xfrm>
        </p:spPr>
        <p:txBody>
          <a:bodyPr/>
          <a:lstStyle/>
          <a:p>
            <a:r>
              <a:rPr lang="en-US" dirty="0"/>
              <a:t>Secure access to patient records</a:t>
            </a:r>
          </a:p>
          <a:p>
            <a:r>
              <a:rPr lang="en-US" dirty="0"/>
              <a:t>Role based access:</a:t>
            </a:r>
          </a:p>
          <a:p>
            <a:pPr lvl="1"/>
            <a:r>
              <a:rPr lang="en-US" dirty="0"/>
              <a:t>Admin</a:t>
            </a:r>
          </a:p>
          <a:p>
            <a:pPr lvl="1"/>
            <a:r>
              <a:rPr lang="en-US" dirty="0"/>
              <a:t>Doctor</a:t>
            </a:r>
          </a:p>
          <a:p>
            <a:pPr lvl="1"/>
            <a:r>
              <a:rPr lang="en-US" dirty="0"/>
              <a:t>Nurse</a:t>
            </a:r>
          </a:p>
          <a:p>
            <a:r>
              <a:rPr lang="en-US" dirty="0"/>
              <a:t>Secure search functionality</a:t>
            </a:r>
          </a:p>
          <a:p>
            <a:r>
              <a:rPr lang="en-US" dirty="0"/>
              <a:t>Input validation to prevent attacks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0D7E2-71B6-2882-EC47-B19E83BFED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C6FB55D7-9872-2924-032A-B34746797C5E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6585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CEAE-9A1E-E7F0-1AF9-FA853C21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296247-FBAA-4091-88B9-FEA2CB47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 Detection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CDF42B-9360-D0D4-C3CD-A1DF1423E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AFC37EA-AC64-DC20-5036-FC15DEC729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871663"/>
            <a:ext cx="1095375" cy="1095375"/>
          </a:xfrm>
          <a:prstGeom prst="rect">
            <a:avLst/>
          </a:prstGeom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078DA05-E3E6-6A2F-FEE4-E41E0859576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3309938"/>
            <a:ext cx="1095375" cy="1095375"/>
          </a:xfrm>
          <a:prstGeom prst="rect">
            <a:avLst/>
          </a:prstGeom>
        </p:spPr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0F131847-F1E8-39B3-A255-2A219893F3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4746625"/>
            <a:ext cx="1095375" cy="109537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79359D-07A3-EA37-9B71-7ADA39380F9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095499" y="1871663"/>
            <a:ext cx="9388499" cy="1095375"/>
          </a:xfrm>
        </p:spPr>
        <p:txBody>
          <a:bodyPr/>
          <a:lstStyle/>
          <a:p>
            <a:r>
              <a:rPr lang="en-US" dirty="0"/>
              <a:t>Detects and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Injection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Cross-Site Scripting (XSS)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9B85ED79-0061-07CC-5E4D-762FA0CE0E7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87EEAE9F-2ACF-CAA1-CCB3-BB26A6C592DB}"/>
              </a:ext>
            </a:extLst>
          </p:cNvPr>
          <p:cNvSpPr txBox="1">
            <a:spLocks/>
          </p:cNvSpPr>
          <p:nvPr/>
        </p:nvSpPr>
        <p:spPr>
          <a:xfrm>
            <a:off x="2095498" y="3699088"/>
            <a:ext cx="9388499" cy="31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Input Inspection before database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DC55B2B-7E61-3121-7549-FE2A3B8E4EB0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dirty="0"/>
              <a:t>All attacks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Logged for monitoring</a:t>
            </a:r>
          </a:p>
        </p:txBody>
      </p:sp>
    </p:spTree>
    <p:extLst>
      <p:ext uri="{BB962C8B-B14F-4D97-AF65-F5344CB8AC3E}">
        <p14:creationId xmlns:p14="http://schemas.microsoft.com/office/powerpoint/2010/main" val="60170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56B9-D162-711B-1481-7AD5B195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20F39-19D9-8EAC-9E61-4FED38650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B63FC6-0920-6FFF-0B6D-35D12322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Security</a:t>
            </a:r>
          </a:p>
        </p:txBody>
      </p:sp>
      <p:sp>
        <p:nvSpPr>
          <p:cNvPr id="23" name="object 7" descr="Beige rectangle">
            <a:extLst>
              <a:ext uri="{FF2B5EF4-FFF2-40B4-BE49-F238E27FC236}">
                <a16:creationId xmlns:a16="http://schemas.microsoft.com/office/drawing/2014/main" id="{B63CAEDE-205D-59F6-03CA-5B76BF3A4BB7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05D004F2-C1AF-F29E-E790-137948BF1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588055"/>
            <a:ext cx="10800000" cy="465370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IoT device are not trusted by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device must: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Control</a:t>
            </a:r>
          </a:p>
          <a:p>
            <a:pPr marL="733425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permission enforced</a:t>
            </a:r>
          </a:p>
          <a:p>
            <a:pPr marL="733425" lvl="1" indent="-285750">
              <a:buFont typeface="Arial" panose="020B0604020202020204" pitchFamily="34" charset="0"/>
              <a:buChar char="•"/>
            </a:pPr>
            <a:r>
              <a:rPr lang="en-US" dirty="0"/>
              <a:t>Unauthorized devices are denied to access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2B6520-5954-DA93-8955-7F65BBFD662B}"/>
              </a:ext>
            </a:extLst>
          </p:cNvPr>
          <p:cNvSpPr/>
          <p:nvPr/>
        </p:nvSpPr>
        <p:spPr>
          <a:xfrm>
            <a:off x="1447230" y="2487674"/>
            <a:ext cx="2026920" cy="74676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Registered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AB883-B601-06A2-5D4A-80A14EAD32DD}"/>
              </a:ext>
            </a:extLst>
          </p:cNvPr>
          <p:cNvSpPr/>
          <p:nvPr/>
        </p:nvSpPr>
        <p:spPr>
          <a:xfrm>
            <a:off x="3985261" y="2487674"/>
            <a:ext cx="2026920" cy="74676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active (not blocked)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0C7056-68C1-4FB6-3694-373F283BEA79}"/>
              </a:ext>
            </a:extLst>
          </p:cNvPr>
          <p:cNvSpPr/>
          <p:nvPr/>
        </p:nvSpPr>
        <p:spPr>
          <a:xfrm>
            <a:off x="6568529" y="2474211"/>
            <a:ext cx="2026920" cy="74676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assigned to a patient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51050D-DB2C-8672-4387-B6CD0F8DBA5F}"/>
              </a:ext>
            </a:extLst>
          </p:cNvPr>
          <p:cNvSpPr/>
          <p:nvPr/>
        </p:nvSpPr>
        <p:spPr>
          <a:xfrm>
            <a:off x="9106560" y="2432045"/>
            <a:ext cx="2026920" cy="74676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Have proper permission</a:t>
            </a:r>
          </a:p>
        </p:txBody>
      </p:sp>
    </p:spTree>
    <p:extLst>
      <p:ext uri="{BB962C8B-B14F-4D97-AF65-F5344CB8AC3E}">
        <p14:creationId xmlns:p14="http://schemas.microsoft.com/office/powerpoint/2010/main" val="3980034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5416-2D27-2AC8-396A-B97F3EF7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019709-9732-B3E8-89CA-3E88D0B3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60" y="1143466"/>
            <a:ext cx="7560000" cy="370166"/>
          </a:xfrm>
        </p:spPr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5C1DBB-6BC1-8847-C90B-CB14149672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322A8F-E002-5D29-AB2C-47CAA8B47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76648"/>
              </p:ext>
            </p:extLst>
          </p:nvPr>
        </p:nvGraphicFramePr>
        <p:xfrm>
          <a:off x="873760" y="2792304"/>
          <a:ext cx="4246880" cy="3114180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{8EC20E35-A176-4012-BC5E-935CFFF8708E}</a:tableStyleId>
              </a:tblPr>
              <a:tblGrid>
                <a:gridCol w="4246880">
                  <a:extLst>
                    <a:ext uri="{9D8B030D-6E8A-4147-A177-3AD203B41FA5}">
                      <a16:colId xmlns:a16="http://schemas.microsoft.com/office/drawing/2014/main" val="1085841917"/>
                    </a:ext>
                  </a:extLst>
                </a:gridCol>
              </a:tblGrid>
              <a:tr h="7785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Detects Abnormal IoT Readings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18501"/>
                  </a:ext>
                </a:extLst>
              </a:tr>
              <a:tr h="7785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Heart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598597"/>
                  </a:ext>
                </a:extLst>
              </a:tr>
              <a:tr h="7785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Oxygen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249"/>
                  </a:ext>
                </a:extLst>
              </a:tr>
              <a:tr h="7785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Extreme 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5771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D9DBF5-7015-BF8B-0C11-D14F63442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3499"/>
              </p:ext>
            </p:extLst>
          </p:nvPr>
        </p:nvGraphicFramePr>
        <p:xfrm>
          <a:off x="6735240" y="3749040"/>
          <a:ext cx="4064000" cy="155786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{8EC20E35-A176-4012-BC5E-935CFFF8708E}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71628329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Suspicious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568493"/>
                  </a:ext>
                </a:extLst>
              </a:tr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Flagged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00688"/>
                  </a:ext>
                </a:extLst>
              </a:tr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Stored For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77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446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B2D8-C273-AEF8-1CA8-03D6AA53E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8129D3-F27E-A1E4-060C-2E908B48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PDF Export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3BA95-E610-E808-5D20-FD5E15B05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588055"/>
            <a:ext cx="10800000" cy="4653709"/>
          </a:xfrm>
        </p:spPr>
        <p:txBody>
          <a:bodyPr/>
          <a:lstStyle/>
          <a:p>
            <a:r>
              <a:rPr lang="en-US" dirty="0"/>
              <a:t>Token Based Secure download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One Time Token</a:t>
            </a:r>
          </a:p>
          <a:p>
            <a:pPr lvl="1"/>
            <a:r>
              <a:rPr lang="en-US" dirty="0"/>
              <a:t>Expiry Time	</a:t>
            </a:r>
          </a:p>
          <a:p>
            <a:pPr lvl="1"/>
            <a:r>
              <a:rPr lang="en-US" dirty="0"/>
              <a:t>Password Protected PDF	</a:t>
            </a:r>
          </a:p>
          <a:p>
            <a:r>
              <a:rPr lang="en-US" dirty="0"/>
              <a:t>Requires Zero Trust Validation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2BCCE7-F503-EC8D-755D-250ABDEB02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6473AA2E-124E-BE43-48F6-5DB53533090E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11223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013B-8662-DE66-0942-E5A2A00C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7F9067-1DA3-A3E7-0732-E97A4AA6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panel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A8E56-4484-0F79-3263-261C4FE4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588055"/>
            <a:ext cx="10800000" cy="4653709"/>
          </a:xfrm>
        </p:spPr>
        <p:txBody>
          <a:bodyPr/>
          <a:lstStyle/>
          <a:p>
            <a:r>
              <a:rPr lang="en-US" dirty="0"/>
              <a:t>Manage system security:</a:t>
            </a:r>
          </a:p>
          <a:p>
            <a:pPr lvl="1"/>
            <a:r>
              <a:rPr lang="en-US" dirty="0"/>
              <a:t>Add devices</a:t>
            </a:r>
          </a:p>
          <a:p>
            <a:pPr lvl="1"/>
            <a:r>
              <a:rPr lang="en-US" dirty="0"/>
              <a:t>Block/ unblock devices</a:t>
            </a:r>
          </a:p>
          <a:p>
            <a:pPr lvl="1"/>
            <a:r>
              <a:rPr lang="en-US" dirty="0"/>
              <a:t>Assign and remove devices to patients</a:t>
            </a:r>
          </a:p>
          <a:p>
            <a:pPr lvl="1"/>
            <a:r>
              <a:rPr lang="en-US" dirty="0"/>
              <a:t>Add Trusted IPs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5E8198-A8DA-985A-A4D0-AB281FAF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8994E742-BAC7-E86E-B0E8-E6528DA7B0DC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91164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FE14-18E9-43DC-AAE8-C86D4433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4282F6-C8D2-B85D-2204-CF9FFE9E8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and Social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5F904-6BB9-500D-8DA2-783C89750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99" y="1723292"/>
            <a:ext cx="10800000" cy="46537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Ethical concerns include:</a:t>
            </a:r>
          </a:p>
          <a:p>
            <a:r>
              <a:rPr lang="en-US" dirty="0" err="1"/>
              <a:t>Unauthorised</a:t>
            </a:r>
            <a:r>
              <a:rPr lang="en-US" dirty="0"/>
              <a:t> access to patient data</a:t>
            </a:r>
          </a:p>
          <a:p>
            <a:r>
              <a:rPr lang="en-US" dirty="0"/>
              <a:t>Misuse of data</a:t>
            </a:r>
          </a:p>
          <a:p>
            <a:r>
              <a:rPr lang="en-US" dirty="0"/>
              <a:t>Security breaches affecting patients safety</a:t>
            </a:r>
          </a:p>
          <a:p>
            <a:r>
              <a:rPr lang="en-US" dirty="0"/>
              <a:t>Incorrect medical decisions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project addresses these above challenges by:</a:t>
            </a:r>
          </a:p>
          <a:p>
            <a:r>
              <a:rPr lang="en-US" dirty="0"/>
              <a:t>Strict access control</a:t>
            </a:r>
          </a:p>
          <a:p>
            <a:r>
              <a:rPr lang="en-US" dirty="0"/>
              <a:t>Logging of all activities</a:t>
            </a:r>
          </a:p>
          <a:p>
            <a:r>
              <a:rPr lang="en-US" dirty="0"/>
              <a:t>Restricting data based on user roles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7565D2-57F9-536C-8647-2527290AB6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A6F02F1B-7082-3DE6-8829-A5B9627FCE4D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9526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F58F4-F2DE-5912-6EA8-2A716C92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129887-A10C-C570-19A2-AD47A719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7F968F-EB46-33BA-5C03-AD7E46A13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FBF8D1EF-9B6C-281B-E48D-F19FD048F3F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C8C9AB-5FC9-0375-9476-2E060370D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8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13507-7A40-2B96-3814-8B355077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B029DF-CBFA-12C2-8945-E12A9689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F09B2-EAFE-A342-3171-EB24EAD6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System was evaluate based on its ability to prevent attacks and enforces security.</a:t>
            </a:r>
          </a:p>
          <a:p>
            <a:pPr marL="0" indent="0">
              <a:buNone/>
            </a:pPr>
            <a:r>
              <a:rPr lang="en-US" dirty="0"/>
              <a:t>Results:</a:t>
            </a:r>
          </a:p>
          <a:p>
            <a:r>
              <a:rPr lang="en-US" dirty="0"/>
              <a:t>SQL Injection attacks were successfully detected and blocked via input validation</a:t>
            </a:r>
          </a:p>
          <a:p>
            <a:r>
              <a:rPr lang="en-US" dirty="0"/>
              <a:t>XSS attacks were prevented through pattern detection</a:t>
            </a:r>
          </a:p>
          <a:p>
            <a:r>
              <a:rPr lang="en-US" dirty="0"/>
              <a:t>Unauthorized IoT access were denied via device mapping</a:t>
            </a:r>
          </a:p>
          <a:p>
            <a:r>
              <a:rPr lang="en-US" dirty="0"/>
              <a:t>Suspicious IoT reading were Identified and Flagged</a:t>
            </a:r>
          </a:p>
          <a:p>
            <a:r>
              <a:rPr lang="en-US" dirty="0"/>
              <a:t>Secure PDF export protected via token and encryption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system effectively demonstrated the application of Zero Trust Principles.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E4A35-5E0A-57F3-5799-112B5FB39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1B8FC2CA-01E9-10BE-2184-41A24E12A00D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9491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1104-4704-41F6-5109-2EFC0055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8B440C-683C-1149-5AF6-26FCB828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DCDB3-516E-152B-9217-0A5B59D0B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858529"/>
            <a:ext cx="10800000" cy="4653709"/>
          </a:xfrm>
        </p:spPr>
        <p:txBody>
          <a:bodyPr/>
          <a:lstStyle/>
          <a:p>
            <a:r>
              <a:rPr lang="en-US" dirty="0"/>
              <a:t>Internet Of Things (IoT) devices were simulated</a:t>
            </a:r>
          </a:p>
          <a:p>
            <a:r>
              <a:rPr lang="en-US" dirty="0"/>
              <a:t>Multi Factor Authentication is not integrated with real services</a:t>
            </a:r>
          </a:p>
          <a:p>
            <a:r>
              <a:rPr lang="en-US" dirty="0"/>
              <a:t>Anomaly detection is rule based</a:t>
            </a:r>
          </a:p>
          <a:p>
            <a:r>
              <a:rPr lang="en-US" dirty="0"/>
              <a:t>System locally deployed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62E587-A04F-59D8-FEDA-A61C7F281A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806A2661-3FDC-0B87-01A5-9C2A48C0B2F2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815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1A588-70C5-8022-C7A4-88D550D0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093F8E-CC40-AD9A-66F3-C313FF58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Works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C7AE-D753-546F-FA1D-D3272F574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Future improvements can be:</a:t>
            </a:r>
          </a:p>
          <a:p>
            <a:pPr algn="just"/>
            <a:r>
              <a:rPr lang="en-US" dirty="0"/>
              <a:t>Integrating with real IoT devices</a:t>
            </a:r>
          </a:p>
          <a:p>
            <a:pPr algn="just"/>
            <a:r>
              <a:rPr lang="en-US" dirty="0"/>
              <a:t>Machine learning based anomaly detection</a:t>
            </a:r>
          </a:p>
          <a:p>
            <a:pPr algn="just"/>
            <a:r>
              <a:rPr lang="en-US" dirty="0"/>
              <a:t>Cloud deployment</a:t>
            </a:r>
          </a:p>
          <a:p>
            <a:pPr algn="just"/>
            <a:r>
              <a:rPr lang="en-US" dirty="0"/>
              <a:t>Real OTP authentication systems</a:t>
            </a:r>
          </a:p>
          <a:p>
            <a:pPr algn="just"/>
            <a:r>
              <a:rPr lang="en-US" dirty="0"/>
              <a:t>More advanced encryption for each and every stored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EE4A9-B94D-353B-3408-D92E24DF4E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D3EE50D3-2473-B011-9F28-62196093143C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7680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42A3-3B59-DBB0-1DDB-47E9D1E0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A43413-46A2-C5E3-543B-61D5B7C7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612EFD-08F1-66AD-EF89-F15398865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This project demonstrates that how Zero Trust architecture can be used to secure healthcare systems from threats or any cyber crime activities through continuously verification of users and devices.</a:t>
            </a:r>
          </a:p>
          <a:p>
            <a:pPr marL="0" indent="0" algn="just">
              <a:buNone/>
            </a:pPr>
            <a:r>
              <a:rPr lang="en-US" dirty="0"/>
              <a:t>The system:</a:t>
            </a:r>
          </a:p>
          <a:p>
            <a:pPr algn="just"/>
            <a:r>
              <a:rPr lang="en-US" dirty="0"/>
              <a:t>Protect sensitive patients data</a:t>
            </a:r>
          </a:p>
          <a:p>
            <a:pPr algn="just"/>
            <a:r>
              <a:rPr lang="en-US" dirty="0"/>
              <a:t>Prevents common cyber attacks</a:t>
            </a:r>
          </a:p>
          <a:p>
            <a:pPr algn="just"/>
            <a:r>
              <a:rPr lang="en-US" dirty="0"/>
              <a:t>Secure IoT Interactions</a:t>
            </a:r>
          </a:p>
          <a:p>
            <a:pPr algn="just"/>
            <a:r>
              <a:rPr lang="en-US" dirty="0"/>
              <a:t>Provides activities monitoring and analytics</a:t>
            </a:r>
          </a:p>
          <a:p>
            <a:pPr marL="0" indent="0" algn="just">
              <a:buNone/>
            </a:pPr>
            <a:r>
              <a:rPr lang="en-US" dirty="0"/>
              <a:t>Overall, this shows the effectiveness of Zero Trust architecture in modern healthcare infrastructure.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FD75A-3E88-FA56-D665-ED99B937D3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D2BB4B11-D1DC-6F6B-E733-D3C5050AAB1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3507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78760-657A-1ECC-43CF-91FF7203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CC0E7F-07F2-2CA7-135E-2E388955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88662-556A-E143-16A4-5A70FD7B9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1491916"/>
            <a:ext cx="10800000" cy="465370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"Investigation: WannaCry cyber attack and the NHS," National Audit Office (NAO), 27 Oct 2017. [Online]. Available: </a:t>
            </a:r>
            <a:r>
              <a:rPr lang="en-US" dirty="0">
                <a:hlinkClick r:id="rId2"/>
              </a:rPr>
              <a:t>https://www.nao.org.uk/press-releases/investigation-wannacry-cyber-attack-and-the-nhs/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"Baseline Security Recommendations for IoT,“ European Union Agency for Cybersecurity(ENISA), Nov 2017. [Online]. Available: </a:t>
            </a:r>
            <a:r>
              <a:rPr lang="en-US" dirty="0">
                <a:hlinkClick r:id="rId3"/>
              </a:rPr>
              <a:t>https://www.enisa.europa.eu/sites/default/files/publications/WP2017%20O-1-1-2%201%20Baseline%20Security%20Recommendations%20for%20IoT%20in%20the%20context%20of%20CII_FINAL.pdf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National Institute of Standards and Technology (NIST), Aug 2020. [Online]. Available: </a:t>
            </a:r>
            <a:r>
              <a:rPr lang="en-US" dirty="0">
                <a:hlinkClick r:id="rId4"/>
              </a:rPr>
              <a:t>https://nvlpubs.nist.gov/nistpubs/SpecialPublications/NIST.SP.800-207.pdf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C2F20-20D9-B4E3-6C4D-DB3A6493DC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2" name="object 7" descr="Beige rectangle">
            <a:extLst>
              <a:ext uri="{FF2B5EF4-FFF2-40B4-BE49-F238E27FC236}">
                <a16:creationId xmlns:a16="http://schemas.microsoft.com/office/drawing/2014/main" id="{3D3E3002-B6DA-2687-9BCA-2C6CE866ABF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1608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cientist looking at test tube">
            <a:extLst>
              <a:ext uri="{FF2B5EF4-FFF2-40B4-BE49-F238E27FC236}">
                <a16:creationId xmlns:a16="http://schemas.microsoft.com/office/drawing/2014/main" id="{F923CFB6-5709-405C-8762-B310D3F219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095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1023</TotalTime>
  <Words>907</Words>
  <Application>Microsoft Office PowerPoint</Application>
  <PresentationFormat>Widescreen</PresentationFormat>
  <Paragraphs>186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</vt:lpstr>
      <vt:lpstr>Calibri</vt:lpstr>
      <vt:lpstr>Courier New</vt:lpstr>
      <vt:lpstr>Gill Sans MT</vt:lpstr>
      <vt:lpstr>Office Theme</vt:lpstr>
      <vt:lpstr> Design and Implementation of a Zero- Trust Based Intrusion Detection and Data Protection System for Healthcare Infrastructure</vt:lpstr>
      <vt:lpstr>Overview of problem area</vt:lpstr>
      <vt:lpstr>Research Overview</vt:lpstr>
      <vt:lpstr>Solution overview</vt:lpstr>
      <vt:lpstr>System architecture</vt:lpstr>
      <vt:lpstr>Implementation</vt:lpstr>
      <vt:lpstr>Zero trust engine </vt:lpstr>
      <vt:lpstr>Patient Module</vt:lpstr>
      <vt:lpstr>Attack Detection</vt:lpstr>
      <vt:lpstr>IoT Security</vt:lpstr>
      <vt:lpstr>Anomaly detection</vt:lpstr>
      <vt:lpstr>Secure PDF Export</vt:lpstr>
      <vt:lpstr>Admin panel</vt:lpstr>
      <vt:lpstr>Ethical and Social challenges</vt:lpstr>
      <vt:lpstr>Demo Overview</vt:lpstr>
      <vt:lpstr>Performance Evaluation</vt:lpstr>
      <vt:lpstr>Limitation</vt:lpstr>
      <vt:lpstr>Future Works  </vt:lpstr>
      <vt:lpstr>Conclusion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Jurga Magar</dc:creator>
  <cp:lastModifiedBy>Vivek Jurga Magar</cp:lastModifiedBy>
  <cp:revision>1</cp:revision>
  <dcterms:created xsi:type="dcterms:W3CDTF">2026-04-03T13:21:03Z</dcterms:created>
  <dcterms:modified xsi:type="dcterms:W3CDTF">2026-07-25T17:45:37Z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